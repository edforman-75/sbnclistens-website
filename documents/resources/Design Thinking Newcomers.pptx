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77" r:id="rId4"/>
    <p:sldId id="260" r:id="rId5"/>
    <p:sldId id="265" r:id="rId6"/>
    <p:sldId id="268" r:id="rId7"/>
    <p:sldId id="261" r:id="rId8"/>
    <p:sldId id="266" r:id="rId9"/>
    <p:sldId id="289" r:id="rId10"/>
    <p:sldId id="267" r:id="rId11"/>
    <p:sldId id="279" r:id="rId12"/>
    <p:sldId id="280" r:id="rId13"/>
    <p:sldId id="290" r:id="rId14"/>
    <p:sldId id="287" r:id="rId15"/>
    <p:sldId id="28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97"/>
    <p:restoredTop sz="96197"/>
  </p:normalViewPr>
  <p:slideViewPr>
    <p:cSldViewPr snapToGrid="0" snapToObjects="1">
      <p:cViewPr varScale="1">
        <p:scale>
          <a:sx n="86" d="100"/>
          <a:sy n="86" d="100"/>
        </p:scale>
        <p:origin x="224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78FB-A074-6C42-A967-B8D1F8D3A5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Design Thinking Workshop</a:t>
            </a:r>
            <a:br>
              <a:rPr lang="en-US" dirty="0"/>
            </a:br>
            <a:r>
              <a:rPr lang="en-US" dirty="0" err="1"/>
              <a:t>SBNewcomers</a:t>
            </a:r>
            <a:r>
              <a:rPr lang="en-US" dirty="0"/>
              <a:t> Club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C42D-EC3E-9C49-9AE8-C85FF9F092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November 18,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E9A0E-21AF-0A42-BD5B-9F2A48E11D08}"/>
              </a:ext>
            </a:extLst>
          </p:cNvPr>
          <p:cNvSpPr txBox="1"/>
          <p:nvPr/>
        </p:nvSpPr>
        <p:spPr>
          <a:xfrm>
            <a:off x="7267575" y="6372225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002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E12A2-DE06-3D41-9E93-7E1BF7ECE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Principles of Design Thinking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A0A9B-CF2D-964E-8829-A9D94CBB7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Human-centered design </a:t>
            </a:r>
          </a:p>
          <a:p>
            <a:r>
              <a:rPr lang="en-US" dirty="0"/>
              <a:t>Mindfulness of the process</a:t>
            </a:r>
          </a:p>
          <a:p>
            <a:r>
              <a:rPr lang="en-US" dirty="0"/>
              <a:t>Prototyping culture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288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8AED-5952-1A4D-BE70-32EC7BBD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Steps in Design Thinking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0DBDAE8-0024-0940-A8CF-718693FA1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212" y="2369745"/>
            <a:ext cx="8915400" cy="211851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3F31B9-8832-5D41-B001-2036D185FC84}"/>
              </a:ext>
            </a:extLst>
          </p:cNvPr>
          <p:cNvSpPr txBox="1"/>
          <p:nvPr/>
        </p:nvSpPr>
        <p:spPr>
          <a:xfrm>
            <a:off x="2137391" y="4950489"/>
            <a:ext cx="176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Pre-work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A6C8E-8C18-BC49-AFED-603589C02E4D}"/>
              </a:ext>
            </a:extLst>
          </p:cNvPr>
          <p:cNvSpPr txBox="1"/>
          <p:nvPr/>
        </p:nvSpPr>
        <p:spPr>
          <a:xfrm>
            <a:off x="4141695" y="4949949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 and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9452FB-1183-7D41-AC49-3BDE75DE6563}"/>
              </a:ext>
            </a:extLst>
          </p:cNvPr>
          <p:cNvSpPr txBox="1"/>
          <p:nvPr/>
        </p:nvSpPr>
        <p:spPr>
          <a:xfrm>
            <a:off x="6096000" y="4950489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Tonight!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36077C-FBDD-5B49-8F28-B2135CD7CE1F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3021209" y="3836977"/>
            <a:ext cx="64545" cy="11135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41EC1D-9E6B-774F-9425-8BA1BFB307FE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4335332" y="4023360"/>
            <a:ext cx="444519" cy="9265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1D1BB4-1965-9F45-AA35-A8FBE0F4F83F}"/>
              </a:ext>
            </a:extLst>
          </p:cNvPr>
          <p:cNvCxnSpPr>
            <a:cxnSpLocks/>
          </p:cNvCxnSpPr>
          <p:nvPr/>
        </p:nvCxnSpPr>
        <p:spPr>
          <a:xfrm flipV="1">
            <a:off x="4844396" y="4023360"/>
            <a:ext cx="365761" cy="9588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8FFAEE-CEFB-E44C-9153-FB982B272B38}"/>
              </a:ext>
            </a:extLst>
          </p:cNvPr>
          <p:cNvCxnSpPr>
            <a:cxnSpLocks/>
          </p:cNvCxnSpPr>
          <p:nvPr/>
        </p:nvCxnSpPr>
        <p:spPr>
          <a:xfrm flipV="1">
            <a:off x="6476205" y="4045590"/>
            <a:ext cx="0" cy="8821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02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6BB6C-131A-9E40-8642-75C84080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E0716-0A90-D448-84D0-A397D1CC7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Open-ended questions to understand user wants and needs</a:t>
            </a:r>
          </a:p>
          <a:p>
            <a:pPr lvl="1"/>
            <a:r>
              <a:rPr lang="en-US" dirty="0"/>
              <a:t>Walk me through your experience…</a:t>
            </a:r>
          </a:p>
          <a:p>
            <a:pPr lvl="1"/>
            <a:r>
              <a:rPr lang="en-US" dirty="0"/>
              <a:t>What works well?   </a:t>
            </a:r>
          </a:p>
          <a:p>
            <a:pPr lvl="1"/>
            <a:r>
              <a:rPr lang="en-US" dirty="0"/>
              <a:t>What are the issues?</a:t>
            </a:r>
          </a:p>
          <a:p>
            <a:pPr lvl="1"/>
            <a:r>
              <a:rPr lang="en-US" dirty="0"/>
              <a:t>Probe for stories and specific incidents.</a:t>
            </a:r>
          </a:p>
          <a:p>
            <a:pPr lvl="1"/>
            <a:r>
              <a:rPr lang="en-US" dirty="0"/>
              <a:t>Ask “Tell me about the last time you ….”</a:t>
            </a:r>
          </a:p>
          <a:p>
            <a:pPr lvl="1"/>
            <a:r>
              <a:rPr lang="en-US" dirty="0"/>
              <a:t>Listen for emotions and frustrations</a:t>
            </a:r>
          </a:p>
          <a:p>
            <a:pPr lvl="1"/>
            <a:r>
              <a:rPr lang="en-US" dirty="0"/>
              <a:t>Don’t ask leading or binary questions.</a:t>
            </a:r>
          </a:p>
        </p:txBody>
      </p:sp>
    </p:spTree>
    <p:extLst>
      <p:ext uri="{BB962C8B-B14F-4D97-AF65-F5344CB8AC3E}">
        <p14:creationId xmlns:p14="http://schemas.microsoft.com/office/powerpoint/2010/main" val="311651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6BB6C-131A-9E40-8642-75C84080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SATURATE AND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E0716-0A90-D448-84D0-A397D1CC7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/>
              <a:t>Empathy Map</a:t>
            </a:r>
            <a:r>
              <a:rPr lang="en-US" dirty="0"/>
              <a:t>: Groups the insights in categories. Synthesizes your findings.</a:t>
            </a:r>
          </a:p>
          <a:p>
            <a:pPr lvl="2"/>
            <a:endParaRPr lang="en-US" dirty="0"/>
          </a:p>
        </p:txBody>
      </p:sp>
      <p:graphicFrame>
        <p:nvGraphicFramePr>
          <p:cNvPr id="6" name="Shape 442">
            <a:extLst>
              <a:ext uri="{FF2B5EF4-FFF2-40B4-BE49-F238E27FC236}">
                <a16:creationId xmlns:a16="http://schemas.microsoft.com/office/drawing/2014/main" id="{94515336-7157-0C45-B6E1-3098BA0A7A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7032498"/>
              </p:ext>
            </p:extLst>
          </p:nvPr>
        </p:nvGraphicFramePr>
        <p:xfrm>
          <a:off x="2805915" y="3190333"/>
          <a:ext cx="7871550" cy="33346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93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7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Quotes &amp; Defining Words</a:t>
                      </a:r>
                      <a:endParaRPr dirty="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Thoughts &amp; Beliefs</a:t>
                      </a:r>
                      <a:endParaRPr dirty="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7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Actions &amp; Behaviors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Feelings &amp; Emotions</a:t>
                      </a:r>
                      <a:endParaRPr dirty="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444">
            <a:extLst>
              <a:ext uri="{FF2B5EF4-FFF2-40B4-BE49-F238E27FC236}">
                <a16:creationId xmlns:a16="http://schemas.microsoft.com/office/drawing/2014/main" id="{537E7DDE-9C80-064F-A643-CF3DDEC424A5}"/>
              </a:ext>
            </a:extLst>
          </p:cNvPr>
          <p:cNvSpPr txBox="1"/>
          <p:nvPr/>
        </p:nvSpPr>
        <p:spPr>
          <a:xfrm rot="-5400000">
            <a:off x="943965" y="4662958"/>
            <a:ext cx="3334500" cy="3894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Usability/Tactical Needs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8" name="Shape 445">
            <a:extLst>
              <a:ext uri="{FF2B5EF4-FFF2-40B4-BE49-F238E27FC236}">
                <a16:creationId xmlns:a16="http://schemas.microsoft.com/office/drawing/2014/main" id="{FE9C6E56-1C4C-3F40-9871-00F490DBE80D}"/>
              </a:ext>
            </a:extLst>
          </p:cNvPr>
          <p:cNvSpPr txBox="1"/>
          <p:nvPr/>
        </p:nvSpPr>
        <p:spPr>
          <a:xfrm rot="5400000">
            <a:off x="9199290" y="4662808"/>
            <a:ext cx="3334500" cy="3894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Emotional/Aspirational Needs</a:t>
            </a:r>
            <a:endParaRPr>
              <a:solidFill>
                <a:srgbClr val="66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449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553D-88BD-DF42-9C76-68BDD044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POV  (Point of View Statement)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160A6-A67A-C442-A8BA-73324D5AB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A point of view consists of two elements: </a:t>
            </a:r>
          </a:p>
          <a:p>
            <a:pPr lvl="2"/>
            <a:r>
              <a:rPr lang="en-US" dirty="0"/>
              <a:t>a unique, empathic understanding of a user group</a:t>
            </a:r>
          </a:p>
          <a:p>
            <a:pPr lvl="2"/>
            <a:r>
              <a:rPr lang="en-US" dirty="0"/>
              <a:t>an insight into a need those users share. </a:t>
            </a:r>
          </a:p>
          <a:p>
            <a:pPr lvl="1"/>
            <a:r>
              <a:rPr lang="en-US" dirty="0"/>
              <a:t>This helps define the problem. </a:t>
            </a:r>
          </a:p>
          <a:p>
            <a:pPr lvl="1"/>
            <a:r>
              <a:rPr lang="en-US" b="1" dirty="0"/>
              <a:t>“X needs a better way to do Y because of Z”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844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553D-88BD-DF42-9C76-68BDD044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IDEATE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160A6-A67A-C442-A8BA-73324D5AB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Brainstorm</a:t>
            </a:r>
            <a:r>
              <a:rPr lang="en-US" dirty="0"/>
              <a:t> ideas on how to meet your user’s needs.  </a:t>
            </a:r>
          </a:p>
          <a:p>
            <a:r>
              <a:rPr lang="en-US" b="1" dirty="0"/>
              <a:t>RULES</a:t>
            </a:r>
            <a:r>
              <a:rPr lang="en-US" dirty="0"/>
              <a:t> of Brainstorming</a:t>
            </a:r>
          </a:p>
          <a:p>
            <a:pPr lvl="1"/>
            <a:r>
              <a:rPr lang="en-US" sz="1700" dirty="0"/>
              <a:t>Defer judgment</a:t>
            </a:r>
          </a:p>
          <a:p>
            <a:pPr lvl="1"/>
            <a:r>
              <a:rPr lang="en-US" sz="1700" dirty="0"/>
              <a:t>Go for quantity</a:t>
            </a:r>
          </a:p>
          <a:p>
            <a:pPr lvl="1"/>
            <a:r>
              <a:rPr lang="en-US" sz="1700" dirty="0"/>
              <a:t>Encourage wild ideas</a:t>
            </a:r>
          </a:p>
          <a:p>
            <a:pPr lvl="1"/>
            <a:r>
              <a:rPr lang="en-US" sz="1700" dirty="0"/>
              <a:t>Breakout ideas can be found right next to the absurd ones.</a:t>
            </a:r>
          </a:p>
          <a:p>
            <a:pPr lvl="1"/>
            <a:r>
              <a:rPr lang="en-US" sz="1700" dirty="0"/>
              <a:t>Build on the ideas of others</a:t>
            </a:r>
          </a:p>
          <a:p>
            <a:pPr lvl="1"/>
            <a:r>
              <a:rPr lang="en-US" sz="1700" dirty="0"/>
              <a:t>Be visual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832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553D-88BD-DF42-9C76-68BDD044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160A6-A67A-C442-A8BA-73324D5AB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Create prototypes of the top ideas that you can show to the user and get feedback.  </a:t>
            </a:r>
          </a:p>
          <a:p>
            <a:r>
              <a:rPr lang="en-US" dirty="0"/>
              <a:t>Low resolution sketches and diagrams work well.  You don’t want to be too married to the ideas so that it’s hard to hear feedback.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050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553D-88BD-DF42-9C76-68BDD044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TEST/ITERATE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160A6-A67A-C442-A8BA-73324D5AB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Get feedback from the user and make changes based on feedback. </a:t>
            </a:r>
          </a:p>
          <a:p>
            <a:pPr lvl="1"/>
            <a:r>
              <a:rPr lang="en-US" dirty="0"/>
              <a:t>What do they like/ dislike?  </a:t>
            </a:r>
          </a:p>
          <a:p>
            <a:pPr lvl="1"/>
            <a:r>
              <a:rPr lang="en-US" dirty="0"/>
              <a:t>Preferences?</a:t>
            </a:r>
          </a:p>
          <a:p>
            <a:r>
              <a:rPr lang="en-US" dirty="0"/>
              <a:t>Return to the previous steps(s) as you get more information.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231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553D-88BD-DF42-9C76-68BDD044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Design Thinking 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160A6-A67A-C442-A8BA-73324D5AB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Problem:  Premature babies were dying in rural India.</a:t>
            </a:r>
          </a:p>
          <a:p>
            <a:r>
              <a:rPr lang="en-US" dirty="0"/>
              <a:t>Request:  Hospitals said “We need parts for old incubators””</a:t>
            </a:r>
          </a:p>
          <a:p>
            <a:r>
              <a:rPr lang="en-US" dirty="0"/>
              <a:t>Design Thinking proved otherwise.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733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C70B-0B48-BE4D-BF2E-521C62666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of View = User +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57A4E-A6B7-514A-909E-B22F1C6F0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B54012C4-25DB-B94C-92AE-13BDCB577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99581" y="1511142"/>
            <a:ext cx="7396162" cy="440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C47134-18F0-7C4E-BAFF-581A96EA9C7B}"/>
              </a:ext>
            </a:extLst>
          </p:cNvPr>
          <p:cNvSpPr/>
          <p:nvPr/>
        </p:nvSpPr>
        <p:spPr>
          <a:xfrm>
            <a:off x="2176462" y="5934670"/>
            <a:ext cx="94821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9156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CAF8-D39C-1C4C-8FA2-F9BDD9BF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ea typeface="Times New Roman" pitchFamily="18" charset="0"/>
                <a:cs typeface="Arial" pitchFamily="34" charset="0"/>
              </a:rPr>
              <a:t>Interviews and Iteration Facilitated a Solution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C11FA-3930-834F-A3F4-D997B0EE3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3768045" cy="3679371"/>
          </a:xfrm>
        </p:spPr>
        <p:txBody>
          <a:bodyPr>
            <a:normAutofit/>
          </a:bodyPr>
          <a:lstStyle/>
          <a:p>
            <a:r>
              <a:rPr lang="en-US" dirty="0"/>
              <a:t>Solution needed to work in villages without electricity</a:t>
            </a:r>
          </a:p>
          <a:p>
            <a:r>
              <a:rPr lang="en-US" dirty="0"/>
              <a:t>Initial prototypes were not well received</a:t>
            </a:r>
          </a:p>
          <a:p>
            <a:r>
              <a:rPr lang="en-US" dirty="0"/>
              <a:t>Final solution: Baby Warmer</a:t>
            </a:r>
          </a:p>
          <a:p>
            <a:pPr lvl="1"/>
            <a:r>
              <a:rPr lang="en-US" dirty="0"/>
              <a:t>Includes unique pad with with a melting point of 98F.</a:t>
            </a:r>
          </a:p>
          <a:p>
            <a:pPr lvl="1"/>
            <a:r>
              <a:rPr lang="en-US" dirty="0"/>
              <a:t>Stays warm for 8 hours</a:t>
            </a:r>
          </a:p>
          <a:p>
            <a:pPr lvl="1"/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6FF7EDD-008D-3742-AAE5-7AEB0DFA0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65086" y="2133600"/>
            <a:ext cx="2087573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53807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CAF8-D39C-1C4C-8FA2-F9BDD9BF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ea typeface="Times New Roman" pitchFamily="18" charset="0"/>
                <a:cs typeface="Arial" pitchFamily="34" charset="0"/>
              </a:rPr>
              <a:t>Success:  </a:t>
            </a:r>
            <a:r>
              <a:rPr lang="en-US" dirty="0" err="1">
                <a:solidFill>
                  <a:schemeClr val="tx1"/>
                </a:solidFill>
                <a:ea typeface="Times New Roman" pitchFamily="18" charset="0"/>
                <a:cs typeface="Arial" pitchFamily="34" charset="0"/>
              </a:rPr>
              <a:t>embraceglobal.org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C11FA-3930-834F-A3F4-D997B0EE3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3768045" cy="3679371"/>
          </a:xfrm>
        </p:spPr>
        <p:txBody>
          <a:bodyPr>
            <a:normAutofit/>
          </a:bodyPr>
          <a:lstStyle/>
          <a:p>
            <a:r>
              <a:rPr lang="en-US" dirty="0"/>
              <a:t>Has helped 1 million babies in 25+ countries</a:t>
            </a:r>
          </a:p>
          <a:p>
            <a:r>
              <a:rPr lang="en-US" dirty="0"/>
              <a:t>In use in today Gaza, Ukraine, and around the world.</a:t>
            </a:r>
          </a:p>
          <a:p>
            <a:r>
              <a:rPr lang="en-US" dirty="0">
                <a:solidFill>
                  <a:schemeClr val="tx1"/>
                </a:solidFill>
                <a:ea typeface="Times New Roman" pitchFamily="18" charset="0"/>
                <a:cs typeface="Arial" pitchFamily="34" charset="0"/>
              </a:rPr>
              <a:t>Organization combines Non-profit with For-profit business models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745B7-F5ED-EB49-AE20-1B213ADA8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616" y="2133600"/>
            <a:ext cx="4574993" cy="304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71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8AED-5952-1A4D-BE70-32EC7BBD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Thinking is an Iterative Process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0DBDAE8-0024-0940-A8CF-718693FA1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212" y="2369745"/>
            <a:ext cx="8915400" cy="211851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793E18-B9BB-DD4D-9BE8-8ADF76D8D253}"/>
              </a:ext>
            </a:extLst>
          </p:cNvPr>
          <p:cNvSpPr/>
          <p:nvPr/>
        </p:nvSpPr>
        <p:spPr>
          <a:xfrm>
            <a:off x="4281889" y="5025529"/>
            <a:ext cx="69773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FA942A-533E-8B41-8BA8-F73D90492EB1}"/>
              </a:ext>
            </a:extLst>
          </p:cNvPr>
          <p:cNvSpPr/>
          <p:nvPr/>
        </p:nvSpPr>
        <p:spPr>
          <a:xfrm>
            <a:off x="6581169" y="6488668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5376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1413FA-F252-9046-AC2E-4039606BE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331" y="5000254"/>
            <a:ext cx="8915399" cy="1468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"Successful innovations take a moment of agony and turn it into a moment of delight.”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                          </a:t>
            </a:r>
            <a:r>
              <a:rPr lang="en-US" sz="2000" dirty="0"/>
              <a:t>Saar Gur, Stanford Graduate School of Business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A9A095-7F89-C74C-9179-E9988A8AF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793174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6476</TotalTime>
  <Words>452</Words>
  <Application>Microsoft Macintosh PowerPoint</Application>
  <PresentationFormat>Widescreen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Roboto</vt:lpstr>
      <vt:lpstr>Wingdings 3</vt:lpstr>
      <vt:lpstr>Wisp</vt:lpstr>
      <vt:lpstr> Design Thinking Workshop SBNewcomers Club </vt:lpstr>
      <vt:lpstr>Three Principles of Design Thinking</vt:lpstr>
      <vt:lpstr>Key Steps in Design Thinking</vt:lpstr>
      <vt:lpstr>1. INTERVIEW</vt:lpstr>
      <vt:lpstr>2. SATURATE AND CLUSTER</vt:lpstr>
      <vt:lpstr>3. POV  (Point of View Statement)</vt:lpstr>
      <vt:lpstr>4. IDEATE</vt:lpstr>
      <vt:lpstr>5. PROTOTYPE</vt:lpstr>
      <vt:lpstr>6. TEST/ITERATE</vt:lpstr>
      <vt:lpstr>Example of Design Thinking in Action</vt:lpstr>
      <vt:lpstr>Point of View = User + Need</vt:lpstr>
      <vt:lpstr>Interviews and Iteration Facilitated a Solution</vt:lpstr>
      <vt:lpstr>Success:  embraceglobal.org</vt:lpstr>
      <vt:lpstr>Design Thinking is an Iterative Process</vt:lpstr>
      <vt:lpstr>"Successful innovations take a moment of agony and turn it into a moment of delight.”                              Saar Gur, Stanford Graduate School of Business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33</cp:revision>
  <dcterms:created xsi:type="dcterms:W3CDTF">2024-03-30T12:40:57Z</dcterms:created>
  <dcterms:modified xsi:type="dcterms:W3CDTF">2025-11-19T00:41:05Z</dcterms:modified>
</cp:coreProperties>
</file>